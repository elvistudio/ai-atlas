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1783080"/>
            <a:ext cx="10789920" cy="7772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4200" b="0" i="0">
                <a:solidFill>
                  <a:srgbClr val="192532"/>
                </a:solidFill>
                <a:latin typeface="Georgia"/>
              </a:rPr>
              <a:t>AI Atlas v0.1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78608"/>
            <a:ext cx="1078992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0D8B80"/>
                </a:solidFill>
                <a:latin typeface="Aptos"/>
              </a:rPr>
              <a:t>Public Preview of the Level 1–2 AI Taxonomy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154680"/>
            <a:ext cx="8046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500" b="0" i="0">
                <a:solidFill>
                  <a:srgbClr val="192532"/>
                </a:solidFill>
                <a:latin typeface="Aptos"/>
              </a:rPr>
              <a:t>An open, community-reviewed taxonomy and knowledge map of modern Artificial Intelligence.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4920" y="384048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DBF2EE"/>
          </a:solidFill>
          <a:ln>
            <a:solidFill>
              <a:srgbClr val="DB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3877056"/>
            <a:ext cx="1965960" cy="31089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08625B"/>
                </a:solidFill>
                <a:latin typeface="Aptos"/>
              </a:rPr>
              <a:t>Public review is open</a:t>
            </a:r>
          </a:p>
        </p:txBody>
      </p:sp>
      <p:sp>
        <p:nvSpPr>
          <p:cNvPr id="47" name="Oval 46"/>
          <p:cNvSpPr/>
          <p:nvPr/>
        </p:nvSpPr>
        <p:spPr>
          <a:xfrm>
            <a:off x="3648456" y="5431536"/>
            <a:ext cx="109728" cy="109728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>
            <a:off x="3703320" y="4892040"/>
            <a:ext cx="2377440" cy="594360"/>
          </a:xfrm>
          <a:prstGeom prst="line">
            <a:avLst/>
          </a:prstGeom>
          <a:ln w="1524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4837176" y="5431536"/>
            <a:ext cx="109728" cy="109728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4892040" y="4892040"/>
            <a:ext cx="1188720" cy="594360"/>
          </a:xfrm>
          <a:prstGeom prst="line">
            <a:avLst/>
          </a:prstGeom>
          <a:ln w="1524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025896" y="5431536"/>
            <a:ext cx="109728" cy="109728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080760" y="4892040"/>
            <a:ext cx="0" cy="594360"/>
          </a:xfrm>
          <a:prstGeom prst="line">
            <a:avLst/>
          </a:prstGeom>
          <a:ln w="1524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214616" y="5431536"/>
            <a:ext cx="109728" cy="109728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6080760" y="4892040"/>
            <a:ext cx="1188720" cy="594360"/>
          </a:xfrm>
          <a:prstGeom prst="line">
            <a:avLst/>
          </a:prstGeom>
          <a:ln w="1524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8403336" y="5431536"/>
            <a:ext cx="109728" cy="109728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6080760" y="4892040"/>
            <a:ext cx="2377440" cy="594360"/>
          </a:xfrm>
          <a:prstGeom prst="line">
            <a:avLst/>
          </a:prstGeom>
          <a:ln w="1524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007608" y="4818888"/>
            <a:ext cx="146304" cy="146304"/>
          </a:xfrm>
          <a:prstGeom prst="ellipse">
            <a:avLst/>
          </a:prstGeom>
          <a:solidFill>
            <a:srgbClr val="192532"/>
          </a:solidFill>
          <a:ln>
            <a:solidFill>
              <a:srgbClr val="1925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828800" y="5897880"/>
            <a:ext cx="8503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 i="0">
                <a:solidFill>
                  <a:srgbClr val="5B6872"/>
                </a:solidFill>
                <a:latin typeface="Aptos"/>
              </a:rPr>
              <a:t>Repository: github.com/ai-atlas-project/ai-atlas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Why AI Atlas Exists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13232" y="1828800"/>
            <a:ext cx="5166360" cy="292608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1993392"/>
            <a:ext cx="483717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D8B80"/>
                </a:solidFill>
                <a:latin typeface="Aptos"/>
              </a:rPr>
              <a:t>The challenge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" y="2395728"/>
            <a:ext cx="4837176" cy="2240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92532"/>
                </a:solidFill>
                <a:latin typeface="Aptos"/>
              </a:rPr>
              <a:t>AI terminology is expanding fast. Fields, methods, tasks, architectures, products, companies, and model versions are often discussed as if they were the same kind of thing.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1828800"/>
            <a:ext cx="5166360" cy="292608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3952" y="1993392"/>
            <a:ext cx="483717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0D8B80"/>
                </a:solidFill>
                <a:latin typeface="Aptos"/>
              </a:rPr>
              <a:t>The approach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2395728"/>
            <a:ext cx="4837176" cy="2240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0" i="0">
                <a:solidFill>
                  <a:srgbClr val="192532"/>
                </a:solidFill>
                <a:latin typeface="Aptos"/>
              </a:rPr>
              <a:t>AI Atlas separates hierarchy depth, concept type, and review status. The result is a clearer shared map for learning, technical discussion, and future graph/search layers.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What v0.1 Includes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5800" y="1874519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2039112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L1 &amp; L2 taxonomy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" y="2441448"/>
            <a:ext cx="3099816" cy="2377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92532"/>
                </a:solidFill>
                <a:latin typeface="Aptos"/>
              </a:rPr>
              <a:t>Stable top layers: Level 1 major areas and Level 2 main subareas of modern AI.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1874519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1" y="2039112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Canonical 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9431" y="2441448"/>
            <a:ext cx="3099816" cy="2377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92532"/>
                </a:solidFill>
                <a:latin typeface="Aptos"/>
              </a:rPr>
              <a:t>A machine-readable public source for L0–L2 taxonomy nodes, with stable node IDs.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1874519"/>
            <a:ext cx="3429000" cy="306324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8471" y="2039112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Validation &amp; CI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2441448"/>
            <a:ext cx="3099816" cy="23774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192532"/>
                </a:solidFill>
                <a:latin typeface="Aptos"/>
              </a:rPr>
              <a:t>A Node.js validator checks structure, IDs, hierarchy depth, and parent-child consistency. GitHub Actions runs it on PRs and pushes to main.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v0.1 is a scoped public preview, not a final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What v0.1 Does Not Claim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77240" y="152704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E8E5"/>
          </a:solidFill>
          <a:ln>
            <a:solidFill>
              <a:srgbClr val="F5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1563624"/>
            <a:ext cx="59436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A64844"/>
                </a:solidFill>
                <a:latin typeface="Aptos"/>
              </a:rPr>
              <a:t>scope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645920" y="1508760"/>
            <a:ext cx="2743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192532"/>
                </a:solidFill>
                <a:latin typeface="Aptos"/>
              </a:rPr>
              <a:t>Not complete or final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1508760"/>
            <a:ext cx="6858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5B6872"/>
                </a:solidFill>
                <a:latin typeface="Aptos"/>
              </a:rPr>
              <a:t>AI Atlas is an evolving community-reviewed project, designed to improve through feedback.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2624327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E8E5"/>
          </a:solidFill>
          <a:ln>
            <a:solidFill>
              <a:srgbClr val="F5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2660903"/>
            <a:ext cx="59436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A64844"/>
                </a:solidFill>
                <a:latin typeface="Aptos"/>
              </a:rPr>
              <a:t>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2606039"/>
            <a:ext cx="2743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192532"/>
                </a:solidFill>
                <a:latin typeface="Aptos"/>
              </a:rPr>
              <a:t>Not authoritative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606039"/>
            <a:ext cx="6858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5B6872"/>
                </a:solidFill>
                <a:latin typeface="Aptos"/>
              </a:rPr>
              <a:t>It is a collaborative map, not a unilateral standard or final consensus.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3721607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E8E5"/>
          </a:solidFill>
          <a:ln>
            <a:solidFill>
              <a:srgbClr val="F5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758183"/>
            <a:ext cx="59436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A64844"/>
                </a:solidFill>
                <a:latin typeface="Aptos"/>
              </a:rPr>
              <a:t>scope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0" y="3703320"/>
            <a:ext cx="2743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192532"/>
                </a:solidFill>
                <a:latin typeface="Aptos"/>
              </a:rPr>
              <a:t>Level 3 is not canonical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3703320"/>
            <a:ext cx="6858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5B6872"/>
                </a:solidFill>
                <a:latin typeface="Aptos"/>
              </a:rPr>
              <a:t>Level 3 work remains draft/review-only until separate review and promotion.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" y="481888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5E8E5"/>
          </a:solidFill>
          <a:ln>
            <a:solidFill>
              <a:srgbClr val="F5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855464"/>
            <a:ext cx="59436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A64844"/>
                </a:solidFill>
                <a:latin typeface="Aptos"/>
              </a:rPr>
              <a:t>scope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45920" y="4800600"/>
            <a:ext cx="27432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192532"/>
                </a:solidFill>
                <a:latin typeface="Aptos"/>
              </a:rPr>
              <a:t>Future layers are separate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4800600"/>
            <a:ext cx="68580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5B6872"/>
                </a:solidFill>
                <a:latin typeface="Aptos"/>
              </a:rPr>
              <a:t>Full relations graph, website/search, and educational/commercial products are outside this release.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Core Taxonomy Principles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5800" y="1508760"/>
            <a:ext cx="3657600" cy="356616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1673351"/>
            <a:ext cx="33284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Level ≠ concept type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" y="2075688"/>
            <a:ext cx="3328416" cy="2880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192532"/>
                </a:solidFill>
                <a:latin typeface="Aptos"/>
              </a:rPr>
              <a:t>Level means hierarchy depth. A concept's type — field, method, task, architecture, application, system, or other category — is separate metadata.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26280" y="1508760"/>
            <a:ext cx="3337560" cy="356616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90872" y="1673351"/>
            <a:ext cx="300837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Stable names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0872" y="2075688"/>
            <a:ext cx="3008376" cy="2880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92532"/>
                </a:solidFill>
                <a:latin typeface="Aptos"/>
              </a:rPr>
              <a:t>Prefer academically recognizable and technically useful names over temporary market language.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1508760"/>
            <a:ext cx="3429000" cy="356616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1673351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Separation of concerns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2075688"/>
            <a:ext cx="3099816" cy="2880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50" b="0" i="0">
                <a:solidFill>
                  <a:srgbClr val="192532"/>
                </a:solidFill>
                <a:latin typeface="Aptos"/>
              </a:rPr>
              <a:t>Avoid mixing products, companies, model versions, and market labels into canonical taxonomy unless explicitly in scope.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" y="5440680"/>
            <a:ext cx="219456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D8B80"/>
                </a:solidFill>
                <a:latin typeface="Aptos"/>
              </a:rPr>
              <a:t>Hierarchy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440680"/>
            <a:ext cx="1828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0D8B80"/>
                </a:solidFill>
                <a:latin typeface="Aptos"/>
              </a:rPr>
              <a:t>Concept type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Repository Foundation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5800" y="141732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DBF2EE"/>
          </a:solidFill>
          <a:ln>
            <a:solidFill>
              <a:srgbClr val="DB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1453896"/>
            <a:ext cx="210312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08625B"/>
                </a:solidFill>
                <a:latin typeface="Aptos"/>
              </a:rPr>
              <a:t>Component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154680" y="1417320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DBF2EE"/>
          </a:solidFill>
          <a:ln>
            <a:solidFill>
              <a:srgbClr val="DB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1453896"/>
            <a:ext cx="29718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08625B"/>
                </a:solidFill>
                <a:latin typeface="Aptos"/>
              </a:rPr>
              <a:t>File / detail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9400" y="1417320"/>
            <a:ext cx="4892040" cy="310896"/>
          </a:xfrm>
          <a:prstGeom prst="roundRect">
            <a:avLst>
              <a:gd name="adj" fmla="val 50000"/>
            </a:avLst>
          </a:prstGeom>
          <a:solidFill>
            <a:srgbClr val="DBF2EE"/>
          </a:solidFill>
          <a:ln>
            <a:solidFill>
              <a:srgbClr val="DB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1453896"/>
            <a:ext cx="4800600" cy="29260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08625B"/>
                </a:solidFill>
                <a:latin typeface="Aptos"/>
              </a:rPr>
              <a:t>Purpose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1874519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2039112"/>
            <a:ext cx="20116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92532"/>
                </a:solidFill>
                <a:latin typeface="Aptos"/>
              </a:rPr>
              <a:t>Taxonomy file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203911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08625B"/>
                </a:solidFill>
                <a:latin typeface="Cascadia Mono"/>
              </a:rPr>
              <a:t>taxonomy/ai-taxonomy-l1-l2.json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2002536"/>
            <a:ext cx="4572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30" b="0" i="0">
                <a:solidFill>
                  <a:srgbClr val="5B6872"/>
                </a:solidFill>
                <a:latin typeface="Aptos"/>
              </a:rPr>
              <a:t>Canonical public L0–L2 node definitions; 125 public nodes.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" y="2743200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8680" y="2907792"/>
            <a:ext cx="20116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92532"/>
                </a:solidFill>
                <a:latin typeface="Aptos"/>
              </a:rPr>
              <a:t>Identifiers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290779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08625B"/>
                </a:solidFill>
                <a:latin typeface="Cascadia Mono"/>
              </a:rPr>
              <a:t>ai:&lt;slug&gt;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2871216"/>
            <a:ext cx="4572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30" b="0" i="0">
                <a:solidFill>
                  <a:srgbClr val="5B6872"/>
                </a:solidFill>
                <a:latin typeface="Aptos"/>
              </a:rPr>
              <a:t>Stable semantic node IDs checked for uniqueness and format.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3611880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3776472"/>
            <a:ext cx="20116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92532"/>
                </a:solidFill>
                <a:latin typeface="Aptos"/>
              </a:rPr>
              <a:t>Validator script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54680" y="377647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08625B"/>
                </a:solidFill>
                <a:latin typeface="Cascadia Mono"/>
              </a:rPr>
              <a:t>scripts/validate-canonical-l1-l2-json.mjs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3739896"/>
            <a:ext cx="4572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30" b="0" i="0">
                <a:solidFill>
                  <a:srgbClr val="5B6872"/>
                </a:solidFill>
                <a:latin typeface="Aptos"/>
              </a:rPr>
              <a:t>Checks required fields, hierarchy depth, and parent-child consistency.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5800" y="4480560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4645152"/>
            <a:ext cx="20116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192532"/>
                </a:solidFill>
                <a:latin typeface="Aptos"/>
              </a:rPr>
              <a:t>CI workflow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80" y="4645152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08625B"/>
                </a:solidFill>
                <a:latin typeface="Cascadia Mono"/>
              </a:rPr>
              <a:t>.github/workflows/validate-taxonomy.yml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4608576"/>
            <a:ext cx="457200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30" b="0" i="0">
                <a:solidFill>
                  <a:srgbClr val="5B6872"/>
                </a:solidFill>
                <a:latin typeface="Aptos"/>
              </a:rPr>
              <a:t>Runs the validator on pull requests and pushes to main.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Level 3 Is Draft-Only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9808" y="1417320"/>
            <a:ext cx="5669280" cy="7132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0" i="0">
                <a:solidFill>
                  <a:srgbClr val="192532"/>
                </a:solidFill>
                <a:latin typeface="Aptos"/>
              </a:rPr>
              <a:t>Level 3 is being developed separately in draft/review workflows. It remains non-canonical until explicit review and promotion.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8" y="24231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2587752"/>
            <a:ext cx="4791455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0D8B80"/>
                </a:solidFill>
                <a:latin typeface="Aptos"/>
              </a:rPr>
              <a:t>What exists today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2990088"/>
            <a:ext cx="4791455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20" b="0" i="0">
                <a:solidFill>
                  <a:srgbClr val="192532"/>
                </a:solidFill>
                <a:latin typeface="Aptos"/>
              </a:rPr>
              <a:t>Draft policies and private review work clarify stable IDs, relation target typing, schema migration, package/standalone roles, and promotion boundaries.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2423160"/>
            <a:ext cx="5074920" cy="214884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2587752"/>
            <a:ext cx="474573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50" b="1" i="0">
                <a:solidFill>
                  <a:srgbClr val="0D8B80"/>
                </a:solidFill>
                <a:latin typeface="Aptos"/>
              </a:rPr>
              <a:t>Boundary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2990088"/>
            <a:ext cx="4745736" cy="1463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192532"/>
                </a:solidFill>
                <a:latin typeface="Aptos"/>
              </a:rPr>
              <a:t>No Level 3 draft has been promoted. Public v0.1 remains a Level 0–2 preview.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52578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DBF2EE"/>
          </a:solidFill>
          <a:ln>
            <a:solidFill>
              <a:srgbClr val="DB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5294376"/>
            <a:ext cx="1920240" cy="301751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08625B"/>
                </a:solidFill>
                <a:latin typeface="Aptos"/>
              </a:rPr>
              <a:t>Canonical L0–L2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52578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F4ECDA"/>
          </a:solidFill>
          <a:ln>
            <a:solidFill>
              <a:srgbClr val="F4EC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5294376"/>
            <a:ext cx="1920240" cy="301751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1" i="0">
                <a:solidFill>
                  <a:srgbClr val="8A6927"/>
                </a:solidFill>
                <a:latin typeface="Aptos"/>
              </a:rPr>
              <a:t>Draft / Review L3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337560" y="5422392"/>
            <a:ext cx="4617719" cy="0"/>
          </a:xfrm>
          <a:prstGeom prst="line">
            <a:avLst/>
          </a:prstGeom>
          <a:ln w="15240">
            <a:solidFill>
              <a:srgbClr val="D6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389120" y="5138928"/>
            <a:ext cx="2651760" cy="23774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50" b="0" i="0">
                <a:solidFill>
                  <a:srgbClr val="5B6872"/>
                </a:solidFill>
                <a:latin typeface="Aptos"/>
              </a:rPr>
              <a:t>promotion requires separate review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How to Review v0.1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5800" y="1828800"/>
            <a:ext cx="3429000" cy="297180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" y="1993392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Scope checks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" y="2395728"/>
            <a:ext cx="3099816" cy="22860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92532"/>
                </a:solidFill>
                <a:latin typeface="Aptos"/>
              </a:rPr>
              <a:t>Are any major AI areas missing? Are any Level 1 branches misplaced or overlapping?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34840" y="1828800"/>
            <a:ext cx="3429000" cy="297180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1" y="1993392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Name clarity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99431" y="2395728"/>
            <a:ext cx="3099816" cy="22860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92532"/>
                </a:solidFill>
                <a:latin typeface="Aptos"/>
              </a:rPr>
              <a:t>Flag unclear or unstable names. Prefer academically recognizable and technically precise terms.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1828800"/>
            <a:ext cx="3429000" cy="297180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8471" y="1993392"/>
            <a:ext cx="3099816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D8B80"/>
                </a:solidFill>
                <a:latin typeface="Aptos"/>
              </a:rPr>
              <a:t>Usefulness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2395728"/>
            <a:ext cx="3099816" cy="22860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 i="0">
                <a:solidFill>
                  <a:srgbClr val="192532"/>
                </a:solidFill>
                <a:latin typeface="Aptos"/>
              </a:rPr>
              <a:t>Is the structure useful for learning, professional discussion, and future graph/search layers?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34440" y="5532120"/>
            <a:ext cx="9875520" cy="40233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5B6872"/>
                </a:solidFill>
                <a:latin typeface="Aptos"/>
              </a:rPr>
              <a:t>Please keep feedback focused on the public Level 1–2 taxonomy. Level 3 suggestions are useful, but should remain draft/review-only.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94360" y="384048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800" b="0" i="0">
                <a:solidFill>
                  <a:srgbClr val="192532"/>
                </a:solidFill>
                <a:latin typeface="Georgia"/>
              </a:rPr>
              <a:t>After v0.1: Review Loop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94360" y="987552"/>
            <a:ext cx="10972800" cy="0"/>
          </a:xfrm>
          <a:prstGeom prst="line">
            <a:avLst/>
          </a:prstGeom>
          <a:ln w="13970">
            <a:solidFill>
              <a:srgbClr val="0D8B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77240" y="1874519"/>
            <a:ext cx="502920" cy="502920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198424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1810512"/>
            <a:ext cx="15544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92532"/>
                </a:solidFill>
                <a:latin typeface="Aptos"/>
              </a:rPr>
              <a:t>Collect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2240280"/>
            <a:ext cx="196596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70" b="0" i="0">
                <a:solidFill>
                  <a:srgbClr val="5B6872"/>
                </a:solidFill>
                <a:latin typeface="Aptos"/>
              </a:rPr>
              <a:t>Gather public feedback through GitHub Issues and direct review.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54680" y="2130552"/>
            <a:ext cx="365760" cy="0"/>
          </a:xfrm>
          <a:prstGeom prst="line">
            <a:avLst/>
          </a:prstGeom>
          <a:ln w="16510">
            <a:solidFill>
              <a:srgbClr val="D6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3520440" y="1874519"/>
            <a:ext cx="502920" cy="502920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198424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1810512"/>
            <a:ext cx="15544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92532"/>
                </a:solidFill>
                <a:latin typeface="Aptos"/>
              </a:rPr>
              <a:t>Triage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06240" y="2240280"/>
            <a:ext cx="196596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70" b="0" i="0">
                <a:solidFill>
                  <a:srgbClr val="5B6872"/>
                </a:solidFill>
                <a:latin typeface="Aptos"/>
              </a:rPr>
              <a:t>Separate L1/L2 feedback, Level 3 ideas, policy questions, and future-product ideas.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897880" y="2130552"/>
            <a:ext cx="365760" cy="0"/>
          </a:xfrm>
          <a:prstGeom prst="line">
            <a:avLst/>
          </a:prstGeom>
          <a:ln w="16510">
            <a:solidFill>
              <a:srgbClr val="D6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263640" y="1874519"/>
            <a:ext cx="502920" cy="502920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198424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0" y="1810512"/>
            <a:ext cx="15544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92532"/>
                </a:solidFill>
                <a:latin typeface="Aptos"/>
              </a:rPr>
              <a:t>Refine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0" y="2240280"/>
            <a:ext cx="196596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70" b="0" i="0">
                <a:solidFill>
                  <a:srgbClr val="5B6872"/>
                </a:solidFill>
                <a:latin typeface="Aptos"/>
              </a:rPr>
              <a:t>Create small reviewed PRs for accepted L1/L2 improvements.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641080" y="2130552"/>
            <a:ext cx="365760" cy="0"/>
          </a:xfrm>
          <a:prstGeom prst="line">
            <a:avLst/>
          </a:prstGeom>
          <a:ln w="16510">
            <a:solidFill>
              <a:srgbClr val="D6D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9006840" y="1874519"/>
            <a:ext cx="502920" cy="502920"/>
          </a:xfrm>
          <a:prstGeom prst="ellipse">
            <a:avLst/>
          </a:prstGeom>
          <a:solidFill>
            <a:srgbClr val="0D8B80"/>
          </a:solidFill>
          <a:ln>
            <a:solidFill>
              <a:srgbClr val="0D8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1984248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1810512"/>
            <a:ext cx="15544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192532"/>
                </a:solidFill>
                <a:latin typeface="Aptos"/>
              </a:rPr>
              <a:t>Continue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2240280"/>
            <a:ext cx="196596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70" b="0" i="0">
                <a:solidFill>
                  <a:srgbClr val="5B6872"/>
                </a:solidFill>
                <a:latin typeface="Aptos"/>
              </a:rPr>
              <a:t>Advance Level 3 drafts separately without promotion until review criteria are met.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" y="5166360"/>
            <a:ext cx="98755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0" i="0">
                <a:solidFill>
                  <a:srgbClr val="A64844"/>
                </a:solidFill>
                <a:latin typeface="Aptos"/>
              </a:rPr>
              <a:t>No fixed quarterly promise: this is a review loop, not a calendar commitment.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446520"/>
            <a:ext cx="8503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50" b="0" i="0">
                <a:solidFill>
                  <a:srgbClr val="5B6872"/>
                </a:solidFill>
                <a:latin typeface="Aptos"/>
              </a:rPr>
              <a:t>AI Atlas v0.1 public preview — Level 0–2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14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371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86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5156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887200" y="0"/>
            <a:ext cx="0" cy="685800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457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1371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1828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2286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2743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3200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3657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4114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45720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50292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54864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59436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6400800"/>
            <a:ext cx="12191999" cy="0"/>
          </a:xfrm>
          <a:prstGeom prst="line">
            <a:avLst/>
          </a:prstGeom>
          <a:ln w="3810">
            <a:solidFill>
              <a:srgbClr val="E8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31520" y="1783080"/>
            <a:ext cx="1078992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4000" b="0" i="0">
                <a:solidFill>
                  <a:srgbClr val="192532"/>
                </a:solidFill>
                <a:latin typeface="Georgia"/>
              </a:rPr>
              <a:t>Join the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2606040"/>
            <a:ext cx="9052560" cy="40233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0D8B80"/>
                </a:solidFill>
                <a:latin typeface="Aptos"/>
              </a:rPr>
              <a:t>Help improve the public Level 1–2 taxonomy of modern AI.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20240" y="3429000"/>
            <a:ext cx="8366760" cy="1234440"/>
          </a:xfrm>
          <a:prstGeom prst="roundRect">
            <a:avLst>
              <a:gd name="adj" fmla="val 6000"/>
            </a:avLst>
          </a:prstGeom>
          <a:solidFill>
            <a:srgbClr val="FFFFFC"/>
          </a:solidFill>
          <a:ln w="10160">
            <a:solidFill>
              <a:srgbClr val="D6D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40280" y="3675887"/>
            <a:ext cx="13716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6872"/>
                </a:solidFill>
                <a:latin typeface="Aptos"/>
              </a:rPr>
              <a:t>Repository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3675887"/>
            <a:ext cx="6217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30" b="0" i="0">
                <a:solidFill>
                  <a:srgbClr val="08625B"/>
                </a:solidFill>
                <a:latin typeface="Cascadia Mono"/>
              </a:rPr>
              <a:t>https://github.com/ai-atlas-project/ai-atlas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40280" y="4096512"/>
            <a:ext cx="13716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B6872"/>
                </a:solidFill>
                <a:latin typeface="Aptos"/>
              </a:rPr>
              <a:t>Feedback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096512"/>
            <a:ext cx="6217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30" b="0" i="0">
                <a:solidFill>
                  <a:srgbClr val="192532"/>
                </a:solidFill>
                <a:latin typeface="Aptos"/>
              </a:rPr>
              <a:t>Open a structured GitHub Issue with concrete feedback.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7440" y="5623560"/>
            <a:ext cx="740664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450" b="0" i="0">
                <a:solidFill>
                  <a:srgbClr val="5B6872"/>
                </a:solidFill>
                <a:latin typeface="Aptos"/>
              </a:rPr>
              <a:t>AI Atlas v0.1 is open for public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Atlas v0.1 Public Preview</dc:title>
  <dc:subject>Public preview slide deck for AI Atlas Level 0–2 taxonomy</dc:subject>
  <dc:creator>AI Atlas project</dc:creator>
  <cp:keywords/>
  <dc:description>Improved public preview deck. Level 3 remains draft/review-only and non-canonical.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